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49" r:id="rId1"/>
  </p:sldMasterIdLst>
  <p:notesMasterIdLst>
    <p:notesMasterId r:id="rId12"/>
  </p:notesMasterIdLst>
  <p:sldIdLst>
    <p:sldId id="256" r:id="rId2"/>
    <p:sldId id="266" r:id="rId3"/>
    <p:sldId id="267" r:id="rId4"/>
    <p:sldId id="268" r:id="rId5"/>
    <p:sldId id="270" r:id="rId6"/>
    <p:sldId id="269" r:id="rId7"/>
    <p:sldId id="272" r:id="rId8"/>
    <p:sldId id="263" r:id="rId9"/>
    <p:sldId id="264" r:id="rId10"/>
    <p:sldId id="265" r:id="rId11"/>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F6FB7E9-FDA9-4CE3-B3CE-B4DA5E3D2E9F}" type="datetimeFigureOut">
              <a:rPr lang="en-IN" smtClean="0"/>
              <a:t>23-02-2026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1EB2C60-02C8-4324-862A-325AAFCDF329}" type="slidenum">
              <a:rPr lang="en-IN" smtClean="0"/>
              <a:t>‹#›</a:t>
            </a:fld>
            <a:endParaRPr lang="en-IN"/>
          </a:p>
        </p:txBody>
      </p:sp>
    </p:spTree>
    <p:extLst>
      <p:ext uri="{BB962C8B-B14F-4D97-AF65-F5344CB8AC3E}">
        <p14:creationId xmlns:p14="http://schemas.microsoft.com/office/powerpoint/2010/main" val="1489378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EB2C60-02C8-4324-862A-325AAFCDF329}" type="slidenum">
              <a:rPr lang="en-IN" smtClean="0"/>
              <a:t>6</a:t>
            </a:fld>
            <a:endParaRPr lang="en-IN"/>
          </a:p>
        </p:txBody>
      </p:sp>
    </p:spTree>
    <p:extLst>
      <p:ext uri="{BB962C8B-B14F-4D97-AF65-F5344CB8AC3E}">
        <p14:creationId xmlns:p14="http://schemas.microsoft.com/office/powerpoint/2010/main" val="2860649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67216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1657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33449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29924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05966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93207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01349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0244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54441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1837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0660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1" i="0">
                <a:solidFill>
                  <a:srgbClr val="252525"/>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32735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2/23/2026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148606790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geeksforgeeks.org/whatsapp-clone-using-reactj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295400" y="1924303"/>
            <a:ext cx="9753599" cy="391160"/>
          </a:xfrm>
          <a:prstGeom prst="rect">
            <a:avLst/>
          </a:prstGeom>
        </p:spPr>
        <p:txBody>
          <a:bodyPr vert="horz" wrap="square" lIns="0" tIns="12700" rIns="0" bIns="0" rtlCol="0">
            <a:spAutoFit/>
          </a:bodyPr>
          <a:lstStyle/>
          <a:p>
            <a:pPr marL="12700" algn="ctr">
              <a:lnSpc>
                <a:spcPct val="100000"/>
              </a:lnSpc>
              <a:spcBef>
                <a:spcPts val="100"/>
              </a:spcBef>
            </a:pPr>
            <a:r>
              <a:rPr sz="2400" dirty="0">
                <a:solidFill>
                  <a:srgbClr val="FF0000"/>
                </a:solidFill>
              </a:rPr>
              <a:t>Department</a:t>
            </a:r>
            <a:r>
              <a:rPr sz="2400" spc="-55" dirty="0">
                <a:solidFill>
                  <a:srgbClr val="FF0000"/>
                </a:solidFill>
              </a:rPr>
              <a:t> </a:t>
            </a:r>
            <a:r>
              <a:rPr sz="2400" dirty="0">
                <a:solidFill>
                  <a:srgbClr val="FF0000"/>
                </a:solidFill>
              </a:rPr>
              <a:t>of</a:t>
            </a:r>
            <a:r>
              <a:rPr sz="2400" spc="-55" dirty="0">
                <a:solidFill>
                  <a:srgbClr val="FF0000"/>
                </a:solidFill>
              </a:rPr>
              <a:t> </a:t>
            </a:r>
            <a:r>
              <a:rPr sz="2400" dirty="0">
                <a:solidFill>
                  <a:srgbClr val="FF0000"/>
                </a:solidFill>
              </a:rPr>
              <a:t>Computer</a:t>
            </a:r>
            <a:r>
              <a:rPr sz="2400" spc="-80" dirty="0">
                <a:solidFill>
                  <a:srgbClr val="FF0000"/>
                </a:solidFill>
              </a:rPr>
              <a:t> </a:t>
            </a:r>
            <a:r>
              <a:rPr sz="2400" dirty="0">
                <a:solidFill>
                  <a:srgbClr val="FF0000"/>
                </a:solidFill>
              </a:rPr>
              <a:t>Science</a:t>
            </a:r>
            <a:r>
              <a:rPr sz="2400" spc="-65" dirty="0">
                <a:solidFill>
                  <a:srgbClr val="FF0000"/>
                </a:solidFill>
              </a:rPr>
              <a:t> </a:t>
            </a:r>
            <a:r>
              <a:rPr sz="2400" dirty="0">
                <a:solidFill>
                  <a:srgbClr val="FF0000"/>
                </a:solidFill>
              </a:rPr>
              <a:t>&amp;</a:t>
            </a:r>
            <a:r>
              <a:rPr sz="2400" spc="-65" dirty="0">
                <a:solidFill>
                  <a:srgbClr val="FF0000"/>
                </a:solidFill>
              </a:rPr>
              <a:t> </a:t>
            </a:r>
            <a:r>
              <a:rPr sz="2400" spc="-10" dirty="0">
                <a:solidFill>
                  <a:srgbClr val="FF0000"/>
                </a:solidFill>
              </a:rPr>
              <a:t>Engineering</a:t>
            </a:r>
            <a:endParaRPr sz="2400" dirty="0"/>
          </a:p>
        </p:txBody>
      </p:sp>
      <p:sp>
        <p:nvSpPr>
          <p:cNvPr id="8" name="object 8"/>
          <p:cNvSpPr txBox="1"/>
          <p:nvPr/>
        </p:nvSpPr>
        <p:spPr>
          <a:xfrm>
            <a:off x="495300" y="2722117"/>
            <a:ext cx="11201400" cy="3456716"/>
          </a:xfrm>
          <a:prstGeom prst="rect">
            <a:avLst/>
          </a:prstGeom>
        </p:spPr>
        <p:txBody>
          <a:bodyPr vert="horz" wrap="square" lIns="0" tIns="12065" rIns="0" bIns="0" rtlCol="0">
            <a:spAutoFit/>
          </a:bodyPr>
          <a:lstStyle/>
          <a:p>
            <a:pPr marL="539115" algn="ctr">
              <a:lnSpc>
                <a:spcPct val="100000"/>
              </a:lnSpc>
              <a:spcBef>
                <a:spcPts val="95"/>
              </a:spcBef>
            </a:pPr>
            <a:r>
              <a:rPr lang="en-US" sz="2800" b="1" dirty="0" err="1">
                <a:latin typeface="Times New Roman"/>
                <a:cs typeface="Times New Roman"/>
              </a:rPr>
              <a:t>ViraLeaf</a:t>
            </a:r>
            <a:r>
              <a:rPr lang="en-US" sz="2800" b="1" dirty="0">
                <a:latin typeface="Times New Roman"/>
                <a:cs typeface="Times New Roman"/>
              </a:rPr>
              <a:t>: Smarter Leaves. Healthier Crops </a:t>
            </a:r>
            <a:endParaRPr lang="en-IN" sz="2800" b="1" dirty="0">
              <a:latin typeface="Times New Roman"/>
              <a:cs typeface="Times New Roman"/>
            </a:endParaRPr>
          </a:p>
          <a:p>
            <a:pPr marL="6654800" lvl="3">
              <a:spcBef>
                <a:spcPts val="1985"/>
              </a:spcBef>
            </a:pPr>
            <a:r>
              <a:rPr b="1" dirty="0">
                <a:latin typeface="Times New Roman"/>
                <a:cs typeface="Times New Roman"/>
              </a:rPr>
              <a:t>Batch</a:t>
            </a:r>
            <a:r>
              <a:rPr b="1" spc="-20" dirty="0">
                <a:latin typeface="Times New Roman"/>
                <a:cs typeface="Times New Roman"/>
              </a:rPr>
              <a:t> </a:t>
            </a:r>
            <a:r>
              <a:rPr lang="en-US" b="1" spc="-25" dirty="0">
                <a:latin typeface="Times New Roman"/>
                <a:cs typeface="Times New Roman"/>
              </a:rPr>
              <a:t>13</a:t>
            </a:r>
            <a:r>
              <a:rPr b="1" spc="-25" dirty="0">
                <a:latin typeface="Times New Roman"/>
                <a:cs typeface="Times New Roman"/>
              </a:rPr>
              <a:t>:</a:t>
            </a:r>
            <a:endParaRPr dirty="0">
              <a:latin typeface="Times New Roman"/>
              <a:cs typeface="Times New Roman"/>
            </a:endParaRPr>
          </a:p>
          <a:p>
            <a:pPr marL="6642100" marR="303530" lvl="3">
              <a:lnSpc>
                <a:spcPts val="3170"/>
              </a:lnSpc>
              <a:spcBef>
                <a:spcPts val="265"/>
              </a:spcBef>
            </a:pPr>
            <a:r>
              <a:rPr b="1" spc="-10" dirty="0">
                <a:latin typeface="Times New Roman"/>
                <a:cs typeface="Times New Roman"/>
              </a:rPr>
              <a:t>2211CS0100</a:t>
            </a:r>
            <a:r>
              <a:rPr lang="en-US" b="1" spc="-10" dirty="0">
                <a:latin typeface="Times New Roman"/>
                <a:cs typeface="Times New Roman"/>
              </a:rPr>
              <a:t>49</a:t>
            </a:r>
            <a:r>
              <a:rPr b="1" spc="-10" dirty="0">
                <a:latin typeface="Times New Roman"/>
                <a:cs typeface="Times New Roman"/>
              </a:rPr>
              <a:t>-</a:t>
            </a:r>
            <a:r>
              <a:rPr lang="en-US" b="1" spc="-10" dirty="0">
                <a:latin typeface="Times New Roman"/>
                <a:cs typeface="Times New Roman"/>
              </a:rPr>
              <a:t>B. Anjali</a:t>
            </a:r>
            <a:r>
              <a:rPr b="1" spc="-10" dirty="0">
                <a:latin typeface="Times New Roman"/>
                <a:cs typeface="Times New Roman"/>
              </a:rPr>
              <a:t> </a:t>
            </a:r>
            <a:endParaRPr lang="en-US" b="1" spc="-10" dirty="0">
              <a:latin typeface="Times New Roman"/>
              <a:cs typeface="Times New Roman"/>
            </a:endParaRPr>
          </a:p>
          <a:p>
            <a:pPr marL="6642100" marR="303530" lvl="3">
              <a:lnSpc>
                <a:spcPts val="3170"/>
              </a:lnSpc>
              <a:spcBef>
                <a:spcPts val="265"/>
              </a:spcBef>
            </a:pPr>
            <a:r>
              <a:rPr b="1" spc="-10" dirty="0">
                <a:latin typeface="Times New Roman"/>
                <a:cs typeface="Times New Roman"/>
              </a:rPr>
              <a:t>2211CS0100</a:t>
            </a:r>
            <a:r>
              <a:rPr lang="en-US" b="1" spc="-10" dirty="0">
                <a:latin typeface="Times New Roman"/>
                <a:cs typeface="Times New Roman"/>
              </a:rPr>
              <a:t>51</a:t>
            </a:r>
            <a:r>
              <a:rPr b="1" spc="-10" dirty="0">
                <a:latin typeface="Times New Roman"/>
                <a:cs typeface="Times New Roman"/>
              </a:rPr>
              <a:t>-B.</a:t>
            </a:r>
            <a:r>
              <a:rPr lang="en-US" b="1" spc="-10" dirty="0">
                <a:latin typeface="Times New Roman"/>
                <a:cs typeface="Times New Roman"/>
              </a:rPr>
              <a:t> Joshna</a:t>
            </a:r>
            <a:endParaRPr dirty="0">
              <a:latin typeface="Times New Roman"/>
              <a:cs typeface="Times New Roman"/>
            </a:endParaRPr>
          </a:p>
          <a:p>
            <a:pPr marL="6642100" lvl="3">
              <a:spcBef>
                <a:spcPts val="720"/>
              </a:spcBef>
            </a:pPr>
            <a:r>
              <a:rPr b="1" spc="-10" dirty="0">
                <a:latin typeface="Times New Roman"/>
                <a:cs typeface="Times New Roman"/>
              </a:rPr>
              <a:t>2211CS0100</a:t>
            </a:r>
            <a:r>
              <a:rPr lang="en-US" b="1" spc="-10" dirty="0">
                <a:latin typeface="Times New Roman"/>
                <a:cs typeface="Times New Roman"/>
              </a:rPr>
              <a:t>71</a:t>
            </a:r>
            <a:r>
              <a:rPr b="1" spc="-10" dirty="0">
                <a:latin typeface="Times New Roman"/>
                <a:cs typeface="Times New Roman"/>
              </a:rPr>
              <a:t>-</a:t>
            </a:r>
            <a:r>
              <a:rPr lang="en-US" b="1" spc="-10" dirty="0">
                <a:latin typeface="Times New Roman"/>
                <a:cs typeface="Times New Roman"/>
              </a:rPr>
              <a:t>B. Shravan </a:t>
            </a:r>
            <a:endParaRPr dirty="0">
              <a:latin typeface="Times New Roman"/>
              <a:cs typeface="Times New Roman"/>
            </a:endParaRPr>
          </a:p>
          <a:p>
            <a:pPr marL="6642100" lvl="3">
              <a:spcBef>
                <a:spcPts val="994"/>
              </a:spcBef>
            </a:pPr>
            <a:r>
              <a:rPr b="1" spc="-20" dirty="0">
                <a:latin typeface="Times New Roman"/>
                <a:cs typeface="Times New Roman"/>
              </a:rPr>
              <a:t>2211CS0100</a:t>
            </a:r>
            <a:r>
              <a:rPr lang="en-US" b="1" spc="-20" dirty="0">
                <a:latin typeface="Times New Roman"/>
                <a:cs typeface="Times New Roman"/>
              </a:rPr>
              <a:t>18-A. Manish</a:t>
            </a:r>
            <a:endParaRPr dirty="0">
              <a:latin typeface="Times New Roman"/>
              <a:cs typeface="Times New Roman"/>
            </a:endParaRPr>
          </a:p>
          <a:p>
            <a:pPr marL="12700">
              <a:lnSpc>
                <a:spcPct val="100000"/>
              </a:lnSpc>
              <a:spcBef>
                <a:spcPts val="1010"/>
              </a:spcBef>
            </a:pPr>
            <a:r>
              <a:rPr sz="1800" b="1" u="sng" dirty="0">
                <a:uFill>
                  <a:solidFill>
                    <a:srgbClr val="000000"/>
                  </a:solidFill>
                </a:uFill>
                <a:latin typeface="Times New Roman"/>
                <a:cs typeface="Times New Roman"/>
              </a:rPr>
              <a:t>Under</a:t>
            </a:r>
            <a:r>
              <a:rPr sz="1800" b="1" u="sng" spc="-95" dirty="0">
                <a:uFill>
                  <a:solidFill>
                    <a:srgbClr val="000000"/>
                  </a:solidFill>
                </a:uFill>
                <a:latin typeface="Times New Roman"/>
                <a:cs typeface="Times New Roman"/>
              </a:rPr>
              <a:t> </a:t>
            </a:r>
            <a:r>
              <a:rPr sz="1800" b="1" u="sng" dirty="0">
                <a:uFill>
                  <a:solidFill>
                    <a:srgbClr val="000000"/>
                  </a:solidFill>
                </a:uFill>
                <a:latin typeface="Times New Roman"/>
                <a:cs typeface="Times New Roman"/>
              </a:rPr>
              <a:t>The</a:t>
            </a:r>
            <a:r>
              <a:rPr sz="1800" b="1" u="sng" spc="-25" dirty="0">
                <a:uFill>
                  <a:solidFill>
                    <a:srgbClr val="000000"/>
                  </a:solidFill>
                </a:uFill>
                <a:latin typeface="Times New Roman"/>
                <a:cs typeface="Times New Roman"/>
              </a:rPr>
              <a:t> </a:t>
            </a:r>
            <a:r>
              <a:rPr sz="1800" b="1" u="sng" dirty="0">
                <a:uFill>
                  <a:solidFill>
                    <a:srgbClr val="000000"/>
                  </a:solidFill>
                </a:uFill>
                <a:latin typeface="Times New Roman"/>
                <a:cs typeface="Times New Roman"/>
              </a:rPr>
              <a:t>Guidance</a:t>
            </a:r>
            <a:r>
              <a:rPr sz="1800" b="1" u="sng" spc="-30" dirty="0">
                <a:uFill>
                  <a:solidFill>
                    <a:srgbClr val="000000"/>
                  </a:solidFill>
                </a:uFill>
                <a:latin typeface="Times New Roman"/>
                <a:cs typeface="Times New Roman"/>
              </a:rPr>
              <a:t> </a:t>
            </a:r>
            <a:r>
              <a:rPr sz="1800" b="1" u="sng" spc="-25" dirty="0">
                <a:uFill>
                  <a:solidFill>
                    <a:srgbClr val="000000"/>
                  </a:solidFill>
                </a:uFill>
                <a:latin typeface="Times New Roman"/>
                <a:cs typeface="Times New Roman"/>
              </a:rPr>
              <a:t>Of</a:t>
            </a:r>
            <a:endParaRPr sz="1800" dirty="0">
              <a:latin typeface="Times New Roman"/>
              <a:cs typeface="Times New Roman"/>
            </a:endParaRPr>
          </a:p>
          <a:p>
            <a:pPr marL="12700">
              <a:lnSpc>
                <a:spcPct val="100000"/>
              </a:lnSpc>
              <a:spcBef>
                <a:spcPts val="994"/>
              </a:spcBef>
            </a:pPr>
            <a:r>
              <a:rPr lang="en-US" spc="-10" dirty="0">
                <a:latin typeface="Times New Roman"/>
                <a:cs typeface="Times New Roman"/>
              </a:rPr>
              <a:t>Dr. Naga Chandrika Vaidya</a:t>
            </a:r>
            <a:endParaRPr sz="1800" dirty="0">
              <a:latin typeface="Times New Roman"/>
              <a:cs typeface="Times New Roman"/>
            </a:endParaRPr>
          </a:p>
        </p:txBody>
      </p:sp>
      <p:pic>
        <p:nvPicPr>
          <p:cNvPr id="9" name="object 9"/>
          <p:cNvPicPr/>
          <p:nvPr/>
        </p:nvPicPr>
        <p:blipFill>
          <a:blip r:embed="rId2" cstate="print"/>
          <a:stretch>
            <a:fillRect/>
          </a:stretch>
        </p:blipFill>
        <p:spPr>
          <a:xfrm>
            <a:off x="2988945" y="226187"/>
            <a:ext cx="7767446" cy="12880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14B5-4917-DBE3-4E35-89C801476DBC}"/>
              </a:ext>
            </a:extLst>
          </p:cNvPr>
          <p:cNvSpPr>
            <a:spLocks noGrp="1"/>
          </p:cNvSpPr>
          <p:nvPr>
            <p:ph type="title"/>
          </p:nvPr>
        </p:nvSpPr>
        <p:spPr>
          <a:xfrm>
            <a:off x="1219200" y="468884"/>
            <a:ext cx="9317227" cy="646331"/>
          </a:xfrm>
        </p:spPr>
        <p:txBody>
          <a:bodyPr>
            <a:normAutofit fontScale="90000"/>
          </a:bodyPr>
          <a:lstStyle/>
          <a:p>
            <a:r>
              <a:rPr lang="en-IN" b="1" spc="-35" dirty="0">
                <a:latin typeface="Times New Roman" panose="02020603050405020304" pitchFamily="18" charset="0"/>
                <a:cs typeface="Times New Roman" panose="02020603050405020304" pitchFamily="18" charset="0"/>
              </a:rPr>
              <a:t>Table</a:t>
            </a:r>
            <a:r>
              <a:rPr lang="en-IN" b="1" spc="-110"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of</a:t>
            </a:r>
            <a:r>
              <a:rPr lang="en-IN" b="1" spc="-110" dirty="0">
                <a:latin typeface="Times New Roman" panose="02020603050405020304" pitchFamily="18" charset="0"/>
                <a:cs typeface="Times New Roman" panose="02020603050405020304" pitchFamily="18" charset="0"/>
              </a:rPr>
              <a:t> </a:t>
            </a:r>
            <a:r>
              <a:rPr lang="en-IN" b="1" spc="-10"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7D7180F-16AC-1D74-EC68-3A20F66AF3F6}"/>
              </a:ext>
            </a:extLst>
          </p:cNvPr>
          <p:cNvSpPr>
            <a:spLocks noGrp="1"/>
          </p:cNvSpPr>
          <p:nvPr>
            <p:ph idx="1"/>
          </p:nvPr>
        </p:nvSpPr>
        <p:spPr>
          <a:xfrm>
            <a:off x="2668270" y="2032228"/>
            <a:ext cx="8128000" cy="3447098"/>
          </a:xfrm>
        </p:spPr>
        <p:txBody>
          <a:bodyPr>
            <a:normAutofit fontScale="92500" lnSpcReduction="10000"/>
          </a:bodyPr>
          <a:lstStyle/>
          <a:p>
            <a:pPr marL="457200" indent="-457200">
              <a:buFont typeface="Arial" panose="020B0604020202020204" pitchFamily="34" charset="0"/>
              <a:buChar char="•"/>
            </a:pPr>
            <a:r>
              <a:rPr lang="en-US" sz="3200" u="none" dirty="0">
                <a:solidFill>
                  <a:schemeClr val="tx1"/>
                </a:solidFill>
              </a:rPr>
              <a:t>Introduction</a:t>
            </a:r>
          </a:p>
          <a:p>
            <a:pPr marL="457200" indent="-457200">
              <a:buFont typeface="Arial" panose="020B0604020202020204" pitchFamily="34" charset="0"/>
              <a:buChar char="•"/>
            </a:pPr>
            <a:r>
              <a:rPr lang="en-US" sz="3200" u="none" dirty="0">
                <a:solidFill>
                  <a:schemeClr val="tx1"/>
                </a:solidFill>
              </a:rPr>
              <a:t>Abstract </a:t>
            </a:r>
          </a:p>
          <a:p>
            <a:pPr marL="457200" indent="-457200">
              <a:buFont typeface="Arial" panose="020B0604020202020204" pitchFamily="34" charset="0"/>
              <a:buChar char="•"/>
            </a:pPr>
            <a:r>
              <a:rPr lang="en-US" sz="3200" u="none" dirty="0">
                <a:solidFill>
                  <a:schemeClr val="tx1"/>
                </a:solidFill>
              </a:rPr>
              <a:t>Problem Statement</a:t>
            </a:r>
          </a:p>
          <a:p>
            <a:pPr marL="457200" indent="-457200">
              <a:buFont typeface="Arial" panose="020B0604020202020204" pitchFamily="34" charset="0"/>
              <a:buChar char="•"/>
            </a:pPr>
            <a:r>
              <a:rPr lang="en-US" sz="3200" u="none" dirty="0">
                <a:solidFill>
                  <a:schemeClr val="tx1"/>
                </a:solidFill>
              </a:rPr>
              <a:t>Proposed Methodology</a:t>
            </a:r>
          </a:p>
          <a:p>
            <a:pPr marL="457200" indent="-457200">
              <a:buFont typeface="Arial" panose="020B0604020202020204" pitchFamily="34" charset="0"/>
              <a:buChar char="•"/>
            </a:pPr>
            <a:r>
              <a:rPr lang="en-US" sz="3200" u="none" dirty="0">
                <a:solidFill>
                  <a:schemeClr val="tx1"/>
                </a:solidFill>
              </a:rPr>
              <a:t>Hardware/Software Requirements</a:t>
            </a:r>
          </a:p>
          <a:p>
            <a:pPr marL="457200" indent="-457200">
              <a:buFont typeface="Arial" panose="020B0604020202020204" pitchFamily="34" charset="0"/>
              <a:buChar char="•"/>
            </a:pPr>
            <a:r>
              <a:rPr lang="en-US" sz="3200" u="none" dirty="0">
                <a:solidFill>
                  <a:schemeClr val="tx1"/>
                </a:solidFill>
              </a:rPr>
              <a:t>Conclusion</a:t>
            </a:r>
          </a:p>
          <a:p>
            <a:pPr marL="457200" indent="-457200">
              <a:buFont typeface="Arial" panose="020B0604020202020204" pitchFamily="34" charset="0"/>
              <a:buChar char="•"/>
            </a:pPr>
            <a:r>
              <a:rPr lang="en-US" sz="3200" u="none" dirty="0">
                <a:solidFill>
                  <a:schemeClr val="tx1"/>
                </a:solidFill>
              </a:rPr>
              <a:t>References</a:t>
            </a:r>
            <a:endParaRPr lang="en-IN" sz="3200" u="none" dirty="0">
              <a:solidFill>
                <a:schemeClr val="tx1"/>
              </a:solidFill>
            </a:endParaRPr>
          </a:p>
        </p:txBody>
      </p:sp>
    </p:spTree>
    <p:extLst>
      <p:ext uri="{BB962C8B-B14F-4D97-AF65-F5344CB8AC3E}">
        <p14:creationId xmlns:p14="http://schemas.microsoft.com/office/powerpoint/2010/main" val="744791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D7202-1A7E-69AC-F6B1-3AD9BD621CED}"/>
              </a:ext>
            </a:extLst>
          </p:cNvPr>
          <p:cNvSpPr>
            <a:spLocks noGrp="1"/>
          </p:cNvSpPr>
          <p:nvPr>
            <p:ph type="title"/>
          </p:nvPr>
        </p:nvSpPr>
        <p:spPr>
          <a:xfrm>
            <a:off x="1066800" y="468884"/>
            <a:ext cx="9469627" cy="646331"/>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553E57E-616D-07E3-F709-807713E11247}"/>
              </a:ext>
            </a:extLst>
          </p:cNvPr>
          <p:cNvSpPr>
            <a:spLocks noGrp="1"/>
          </p:cNvSpPr>
          <p:nvPr>
            <p:ph idx="1"/>
          </p:nvPr>
        </p:nvSpPr>
        <p:spPr>
          <a:xfrm>
            <a:off x="1219200" y="2032228"/>
            <a:ext cx="9906000" cy="3046988"/>
          </a:xfrm>
        </p:spPr>
        <p:txBody>
          <a:bodyPr>
            <a:normAutofit fontScale="92500" lnSpcReduction="10000"/>
          </a:bodyPr>
          <a:lstStyle/>
          <a:p>
            <a:pPr marL="0" indent="0" algn="just">
              <a:lnSpc>
                <a:spcPct val="150000"/>
              </a:lnSpc>
              <a:spcBef>
                <a:spcPts val="115"/>
              </a:spcBef>
              <a:buNone/>
            </a:pPr>
            <a:r>
              <a:rPr lang="en-US" sz="2200" u="none" dirty="0">
                <a:solidFill>
                  <a:schemeClr val="tx1"/>
                </a:solidFill>
              </a:rPr>
              <a:t>Plant diseases are a major cause of crop loss and reduced agricultural productivity. Traditional methods of identifying plant diseases require expert knowledge and are time-consuming, which makes early detection difficult for farmers. With the advancement of artificial intelligence and image processing, plant diseases can be detected automatically by analyzing leaf images. This project focuses on developing an intelligent plant disease detection system that identifies diseases at an early stage, helps farmers take timely action, reduces crop loss, and supports smart and sustainable agriculture.</a:t>
            </a:r>
            <a:endParaRPr lang="en-IN" sz="2200" u="none" dirty="0">
              <a:solidFill>
                <a:schemeClr val="tx1"/>
              </a:solidFill>
            </a:endParaRPr>
          </a:p>
        </p:txBody>
      </p:sp>
    </p:spTree>
    <p:extLst>
      <p:ext uri="{BB962C8B-B14F-4D97-AF65-F5344CB8AC3E}">
        <p14:creationId xmlns:p14="http://schemas.microsoft.com/office/powerpoint/2010/main" val="4174069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554A3-42CC-301E-EB74-EAA435075D47}"/>
              </a:ext>
            </a:extLst>
          </p:cNvPr>
          <p:cNvSpPr>
            <a:spLocks noGrp="1"/>
          </p:cNvSpPr>
          <p:nvPr>
            <p:ph type="title"/>
          </p:nvPr>
        </p:nvSpPr>
        <p:spPr>
          <a:xfrm>
            <a:off x="1066800" y="468884"/>
            <a:ext cx="9469627" cy="646331"/>
          </a:xfrm>
        </p:spPr>
        <p:txBody>
          <a:bodyPr>
            <a:normAutofit fontScale="90000"/>
          </a:bodyPr>
          <a:lstStyle/>
          <a:p>
            <a:r>
              <a:rPr lang="en-IN" b="1" spc="-10"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AC33C03-AB61-6B53-A9AB-A2279641AF2E}"/>
              </a:ext>
            </a:extLst>
          </p:cNvPr>
          <p:cNvSpPr>
            <a:spLocks noGrp="1"/>
          </p:cNvSpPr>
          <p:nvPr>
            <p:ph idx="1"/>
          </p:nvPr>
        </p:nvSpPr>
        <p:spPr>
          <a:xfrm>
            <a:off x="838200" y="2032228"/>
            <a:ext cx="10287000" cy="3077766"/>
          </a:xfrm>
        </p:spPr>
        <p:txBody>
          <a:bodyPr>
            <a:noAutofit/>
          </a:bodyPr>
          <a:lstStyle/>
          <a:p>
            <a:pPr marL="0" indent="0" algn="just">
              <a:lnSpc>
                <a:spcPct val="170000"/>
              </a:lnSpc>
              <a:buNone/>
            </a:pPr>
            <a:r>
              <a:rPr lang="en-US" sz="1800" u="none" dirty="0">
                <a:solidFill>
                  <a:schemeClr val="tx1"/>
                </a:solidFill>
              </a:rPr>
              <a:t>Plant diseases significantly affect crop yield and agricultural productivity, leading to economic losses for farmers. Traditional methods of disease detection rely on manual observation and expert knowledge, which are time-consuming and may not always be accurate, especially in the early stages. To address these challenges, this paper presents an intelligent plant disease detection system using image processing and machine learning techniques. The proposed system analyzes images of plant leaves to identify and classify diseases automatically. By enabling early and accurate disease detection, the system helps farmers take timely preventive measures, reduce crop loss, and improve crop quality. This approach supports smart farming practices and contributes to sustainable agricultural development.</a:t>
            </a:r>
            <a:endParaRPr lang="en-IN" sz="1800" u="none" dirty="0">
              <a:solidFill>
                <a:schemeClr val="tx1"/>
              </a:solidFill>
            </a:endParaRPr>
          </a:p>
        </p:txBody>
      </p:sp>
    </p:spTree>
    <p:extLst>
      <p:ext uri="{BB962C8B-B14F-4D97-AF65-F5344CB8AC3E}">
        <p14:creationId xmlns:p14="http://schemas.microsoft.com/office/powerpoint/2010/main" val="1326224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377EA-27CE-62D7-F491-B4A7063F45BE}"/>
              </a:ext>
            </a:extLst>
          </p:cNvPr>
          <p:cNvSpPr>
            <a:spLocks noGrp="1"/>
          </p:cNvSpPr>
          <p:nvPr>
            <p:ph type="title"/>
          </p:nvPr>
        </p:nvSpPr>
        <p:spPr>
          <a:xfrm>
            <a:off x="578358" y="468884"/>
            <a:ext cx="9958069" cy="646331"/>
          </a:xfrm>
        </p:spPr>
        <p:txBody>
          <a:bodyPr>
            <a:normAutofit fontScale="90000"/>
          </a:bodyPr>
          <a:lstStyle/>
          <a:p>
            <a:r>
              <a:rPr lang="en-IN" b="1" spc="-10"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7D82F69-BBA7-9552-F0C1-F24EE05118A7}"/>
              </a:ext>
            </a:extLst>
          </p:cNvPr>
          <p:cNvSpPr>
            <a:spLocks noGrp="1"/>
          </p:cNvSpPr>
          <p:nvPr>
            <p:ph idx="1"/>
          </p:nvPr>
        </p:nvSpPr>
        <p:spPr>
          <a:xfrm>
            <a:off x="838200" y="2032228"/>
            <a:ext cx="9958070" cy="3693319"/>
          </a:xfrm>
        </p:spPr>
        <p:txBody>
          <a:bodyPr>
            <a:normAutofit fontScale="62500" lnSpcReduction="20000"/>
          </a:bodyPr>
          <a:lstStyle/>
          <a:p>
            <a:pPr marL="0" indent="0" algn="just">
              <a:lnSpc>
                <a:spcPct val="170000"/>
              </a:lnSpc>
              <a:buNone/>
            </a:pPr>
            <a:r>
              <a:rPr lang="en-IN" u="none" dirty="0">
                <a:solidFill>
                  <a:schemeClr val="tx1"/>
                </a:solidFill>
              </a:rPr>
              <a:t>Agriculture plays a vital role in the economy, but crop diseases cause major losses to farmers every year. Many plant diseases are difficult to identify at an early stage because they require expert knowledge and regular field inspection. Farmers often rely on visual observation, which is time-consuming, costly, and sometimes inaccurate. Due to a lack of timely detection, diseases spread quickly and reduce crop yield and quality. There is a need for an automated and efficient system that can detect plant diseases at an early stage using technology. By using image processing and machine learning techniques, plant leaf images can be </a:t>
            </a:r>
            <a:r>
              <a:rPr lang="en-IN" u="none" dirty="0" err="1">
                <a:solidFill>
                  <a:schemeClr val="tx1"/>
                </a:solidFill>
              </a:rPr>
              <a:t>analyzed</a:t>
            </a:r>
            <a:r>
              <a:rPr lang="en-IN" u="none" dirty="0">
                <a:solidFill>
                  <a:schemeClr val="tx1"/>
                </a:solidFill>
              </a:rPr>
              <a:t> to identify diseases accurately. Such a system can help farmers take quick preventive actions, reduce crop loss, and improve agricultural productivity.</a:t>
            </a:r>
          </a:p>
          <a:p>
            <a:pPr algn="just">
              <a:lnSpc>
                <a:spcPct val="170000"/>
              </a:lnSpc>
            </a:pPr>
            <a:endParaRPr lang="en-IN" u="none" dirty="0">
              <a:solidFill>
                <a:schemeClr val="tx1"/>
              </a:solidFill>
            </a:endParaRPr>
          </a:p>
        </p:txBody>
      </p:sp>
    </p:spTree>
    <p:extLst>
      <p:ext uri="{BB962C8B-B14F-4D97-AF65-F5344CB8AC3E}">
        <p14:creationId xmlns:p14="http://schemas.microsoft.com/office/powerpoint/2010/main" val="786885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AE293-C044-1F40-1D58-5ADD1BE3DE71}"/>
              </a:ext>
            </a:extLst>
          </p:cNvPr>
          <p:cNvSpPr>
            <a:spLocks noGrp="1"/>
          </p:cNvSpPr>
          <p:nvPr>
            <p:ph type="title"/>
          </p:nvPr>
        </p:nvSpPr>
        <p:spPr>
          <a:xfrm>
            <a:off x="685800" y="468884"/>
            <a:ext cx="9850627" cy="646331"/>
          </a:xfrm>
        </p:spPr>
        <p:txBody>
          <a:bodyPr>
            <a:normAutofit fontScale="90000"/>
          </a:bodyPr>
          <a:lstStyle/>
          <a:p>
            <a:r>
              <a:rPr lang="en-IN" b="1" spc="-10" dirty="0">
                <a:latin typeface="Times New Roman" panose="02020603050405020304" pitchFamily="18" charset="0"/>
                <a:cs typeface="Times New Roman" panose="02020603050405020304" pitchFamily="18" charset="0"/>
              </a:rPr>
              <a:t>Proposed Methodology</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09DCD15-9306-6C66-1A1F-BD7FEEE81E2E}"/>
              </a:ext>
            </a:extLst>
          </p:cNvPr>
          <p:cNvSpPr>
            <a:spLocks noGrp="1"/>
          </p:cNvSpPr>
          <p:nvPr>
            <p:ph idx="1"/>
          </p:nvPr>
        </p:nvSpPr>
        <p:spPr>
          <a:xfrm>
            <a:off x="647700" y="1490007"/>
            <a:ext cx="10896600" cy="3877985"/>
          </a:xfrm>
        </p:spPr>
        <p:txBody>
          <a:bodyPr>
            <a:noAutofit/>
          </a:bodyPr>
          <a:lstStyle/>
          <a:p>
            <a:pPr marL="0" indent="0" algn="just">
              <a:lnSpc>
                <a:spcPct val="150000"/>
              </a:lnSpc>
              <a:buNone/>
            </a:pPr>
            <a:r>
              <a:rPr lang="en-US" sz="1800" u="none" dirty="0">
                <a:solidFill>
                  <a:schemeClr val="tx1"/>
                </a:solidFill>
              </a:rPr>
              <a:t>The proposed methodology aims to develop an intelligent system that not only detects plant diseases from leaf images but also recommends appropriate treatment measures for the identified disease. Initially, a dataset of healthy and diseased plant leaf images is collected from reliable agricultural sources . The images are then pre-processed through resizing, noise removal, and normalization to enhance image quality and </a:t>
            </a:r>
            <a:r>
              <a:rPr lang="en-IN" sz="1800" u="none" dirty="0">
                <a:solidFill>
                  <a:schemeClr val="tx1"/>
                </a:solidFill>
              </a:rPr>
              <a:t>ensure uniform input for the model. To improve robustness and avoid overfitting, data augmentation techniques such as   rotation, flipping, and scaling are applied. A Convolutional Neural Network (CNN) is employed to automatically extract relevant features from the pre-processed images and classify them into different disease categories. The dataset is divided into training, validation, and testing sets to train and fine-tune the model. Once a disease is detected, the system maps the identified disease to a predefined knowledge base that contains recommended treatments, including suitable pesticides, fertilizers, organic remedies, and preventive measures. </a:t>
            </a:r>
          </a:p>
        </p:txBody>
      </p:sp>
    </p:spTree>
    <p:extLst>
      <p:ext uri="{BB962C8B-B14F-4D97-AF65-F5344CB8AC3E}">
        <p14:creationId xmlns:p14="http://schemas.microsoft.com/office/powerpoint/2010/main" val="385521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B50B-F345-0E3E-27CB-F18F61F1D5E8}"/>
              </a:ext>
            </a:extLst>
          </p:cNvPr>
          <p:cNvSpPr>
            <a:spLocks noGrp="1"/>
          </p:cNvSpPr>
          <p:nvPr>
            <p:ph type="title"/>
          </p:nvPr>
        </p:nvSpPr>
        <p:spPr>
          <a:xfrm>
            <a:off x="2671952" y="468884"/>
            <a:ext cx="7864475" cy="646331"/>
          </a:xfrm>
        </p:spPr>
        <p:txBody>
          <a:bodyPr/>
          <a:lstStyle/>
          <a:p>
            <a:r>
              <a:rPr lang="en-IN" dirty="0"/>
              <a:t>Hardware/Software</a:t>
            </a:r>
            <a:r>
              <a:rPr lang="en-IN" spc="-180" dirty="0"/>
              <a:t> </a:t>
            </a:r>
            <a:r>
              <a:rPr lang="en-IN" spc="-10" dirty="0"/>
              <a:t>Requirements</a:t>
            </a:r>
            <a:endParaRPr lang="en-IN" dirty="0"/>
          </a:p>
        </p:txBody>
      </p:sp>
      <p:sp>
        <p:nvSpPr>
          <p:cNvPr id="3" name="Content Placeholder 2">
            <a:extLst>
              <a:ext uri="{FF2B5EF4-FFF2-40B4-BE49-F238E27FC236}">
                <a16:creationId xmlns:a16="http://schemas.microsoft.com/office/drawing/2014/main" id="{1A9C78EA-5E93-6BAA-C756-4300D623B551}"/>
              </a:ext>
            </a:extLst>
          </p:cNvPr>
          <p:cNvSpPr>
            <a:spLocks noGrp="1"/>
          </p:cNvSpPr>
          <p:nvPr>
            <p:ph sz="half" idx="2"/>
          </p:nvPr>
        </p:nvSpPr>
        <p:spPr>
          <a:xfrm>
            <a:off x="609600" y="1577340"/>
            <a:ext cx="5303520" cy="2580194"/>
          </a:xfrm>
        </p:spPr>
        <p:txBody>
          <a:bodyPr/>
          <a:lstStyle/>
          <a:p>
            <a:r>
              <a:rPr lang="en-US" sz="3200" b="1" u="none" dirty="0">
                <a:solidFill>
                  <a:schemeClr val="tx1"/>
                </a:solidFill>
              </a:rPr>
              <a:t>Hardware Requirements:- </a:t>
            </a:r>
          </a:p>
          <a:p>
            <a:pPr marL="342900" indent="-342900">
              <a:buFont typeface="Arial" panose="020B0604020202020204" pitchFamily="34" charset="0"/>
              <a:buChar char="•"/>
            </a:pPr>
            <a:r>
              <a:rPr lang="en-IN" sz="2000" u="none" dirty="0">
                <a:solidFill>
                  <a:schemeClr val="tx1"/>
                </a:solidFill>
              </a:rPr>
              <a:t>Computer / Laptop</a:t>
            </a:r>
          </a:p>
          <a:p>
            <a:pPr marL="342900" indent="-342900">
              <a:buFont typeface="Arial" panose="020B0604020202020204" pitchFamily="34" charset="0"/>
              <a:buChar char="•"/>
            </a:pPr>
            <a:r>
              <a:rPr lang="en-IN" sz="2000" u="none" dirty="0">
                <a:solidFill>
                  <a:schemeClr val="tx1"/>
                </a:solidFill>
              </a:rPr>
              <a:t>Minimum 4 GB RAM</a:t>
            </a:r>
          </a:p>
          <a:p>
            <a:pPr marL="342900" indent="-342900">
              <a:buFont typeface="Arial" panose="020B0604020202020204" pitchFamily="34" charset="0"/>
              <a:buChar char="•"/>
            </a:pPr>
            <a:r>
              <a:rPr lang="en-IN" sz="2000" u="none" dirty="0">
                <a:solidFill>
                  <a:schemeClr val="tx1"/>
                </a:solidFill>
              </a:rPr>
              <a:t>Webcam or Camera (for capturing leaf images)</a:t>
            </a:r>
          </a:p>
          <a:p>
            <a:pPr marL="342900" indent="-342900">
              <a:buFont typeface="Arial" panose="020B0604020202020204" pitchFamily="34" charset="0"/>
              <a:buChar char="•"/>
            </a:pPr>
            <a:r>
              <a:rPr lang="en-IN" sz="2000" u="none" dirty="0">
                <a:solidFill>
                  <a:schemeClr val="tx1"/>
                </a:solidFill>
              </a:rPr>
              <a:t>Storage (at least 10 GB free space)</a:t>
            </a:r>
          </a:p>
          <a:p>
            <a:pPr marL="0" indent="0">
              <a:buNone/>
            </a:pPr>
            <a:endParaRPr lang="en-IN" u="none" dirty="0">
              <a:solidFill>
                <a:schemeClr val="tx1"/>
              </a:solidFill>
            </a:endParaRPr>
          </a:p>
        </p:txBody>
      </p:sp>
      <p:sp>
        <p:nvSpPr>
          <p:cNvPr id="4" name="Content Placeholder 3">
            <a:extLst>
              <a:ext uri="{FF2B5EF4-FFF2-40B4-BE49-F238E27FC236}">
                <a16:creationId xmlns:a16="http://schemas.microsoft.com/office/drawing/2014/main" id="{C12AA0E1-2B20-3CE9-9ADC-4C542A340432}"/>
              </a:ext>
            </a:extLst>
          </p:cNvPr>
          <p:cNvSpPr>
            <a:spLocks noGrp="1"/>
          </p:cNvSpPr>
          <p:nvPr>
            <p:ph sz="half" idx="3"/>
          </p:nvPr>
        </p:nvSpPr>
        <p:spPr>
          <a:xfrm>
            <a:off x="6310835" y="1577340"/>
            <a:ext cx="5303520" cy="3833870"/>
          </a:xfrm>
        </p:spPr>
        <p:txBody>
          <a:bodyPr/>
          <a:lstStyle/>
          <a:p>
            <a:r>
              <a:rPr lang="en-IN" sz="3200" b="1" u="none" dirty="0">
                <a:solidFill>
                  <a:schemeClr val="tx1"/>
                </a:solidFill>
              </a:rPr>
              <a:t>Software Requirements:-</a:t>
            </a:r>
          </a:p>
          <a:p>
            <a:pPr marL="342900" indent="-342900">
              <a:buFont typeface="Arial" panose="020B0604020202020204" pitchFamily="34" charset="0"/>
              <a:buChar char="•"/>
            </a:pPr>
            <a:r>
              <a:rPr lang="en-IN" sz="2000" u="none" dirty="0">
                <a:solidFill>
                  <a:schemeClr val="tx1"/>
                </a:solidFill>
              </a:rPr>
              <a:t>Operating System: Windows / Linux / macOS</a:t>
            </a:r>
          </a:p>
          <a:p>
            <a:pPr marL="342900" indent="-342900">
              <a:buFont typeface="Arial" panose="020B0604020202020204" pitchFamily="34" charset="0"/>
              <a:buChar char="•"/>
            </a:pPr>
            <a:r>
              <a:rPr lang="en-IN" sz="2000" u="none" dirty="0">
                <a:solidFill>
                  <a:schemeClr val="tx1"/>
                </a:solidFill>
              </a:rPr>
              <a:t>Programming Language: Python</a:t>
            </a:r>
          </a:p>
          <a:p>
            <a:pPr marL="342900" indent="-342900">
              <a:buFont typeface="Arial" panose="020B0604020202020204" pitchFamily="34" charset="0"/>
              <a:buChar char="•"/>
            </a:pPr>
            <a:r>
              <a:rPr lang="en-IN" sz="2000" u="none" dirty="0">
                <a:solidFill>
                  <a:schemeClr val="tx1"/>
                </a:solidFill>
              </a:rPr>
              <a:t>Python IDE: VS Code / PyCharm / </a:t>
            </a:r>
            <a:r>
              <a:rPr lang="en-IN" sz="2000" u="none" dirty="0" err="1">
                <a:solidFill>
                  <a:schemeClr val="tx1"/>
                </a:solidFill>
              </a:rPr>
              <a:t>Jupyter</a:t>
            </a:r>
            <a:r>
              <a:rPr lang="en-IN" sz="2000" u="none" dirty="0">
                <a:solidFill>
                  <a:schemeClr val="tx1"/>
                </a:solidFill>
              </a:rPr>
              <a:t> Notebook</a:t>
            </a:r>
          </a:p>
          <a:p>
            <a:pPr marL="342900" indent="-342900">
              <a:buFont typeface="Arial" panose="020B0604020202020204" pitchFamily="34" charset="0"/>
              <a:buChar char="•"/>
            </a:pPr>
            <a:r>
              <a:rPr lang="en-IN" sz="2000" u="none" dirty="0">
                <a:solidFill>
                  <a:schemeClr val="tx1"/>
                </a:solidFill>
              </a:rPr>
              <a:t>Libraries:</a:t>
            </a:r>
          </a:p>
          <a:p>
            <a:pPr marL="342900" indent="-342900">
              <a:buFont typeface="Arial" panose="020B0604020202020204" pitchFamily="34" charset="0"/>
              <a:buChar char="•"/>
            </a:pPr>
            <a:r>
              <a:rPr lang="en-IN" sz="2000" u="none" dirty="0">
                <a:solidFill>
                  <a:schemeClr val="tx1"/>
                </a:solidFill>
              </a:rPr>
              <a:t>OpenCV</a:t>
            </a:r>
          </a:p>
          <a:p>
            <a:pPr marL="342900" indent="-342900">
              <a:buFont typeface="Arial" panose="020B0604020202020204" pitchFamily="34" charset="0"/>
              <a:buChar char="•"/>
            </a:pPr>
            <a:r>
              <a:rPr lang="en-IN" sz="2000" u="none" dirty="0">
                <a:solidFill>
                  <a:schemeClr val="tx1"/>
                </a:solidFill>
              </a:rPr>
              <a:t>NumPy</a:t>
            </a:r>
          </a:p>
          <a:p>
            <a:pPr marL="342900" indent="-342900">
              <a:buFont typeface="Arial" panose="020B0604020202020204" pitchFamily="34" charset="0"/>
              <a:buChar char="•"/>
            </a:pPr>
            <a:r>
              <a:rPr lang="en-IN" sz="2000" u="none" dirty="0">
                <a:solidFill>
                  <a:schemeClr val="tx1"/>
                </a:solidFill>
              </a:rPr>
              <a:t>TensorFlow / </a:t>
            </a:r>
            <a:r>
              <a:rPr lang="en-IN" sz="2000" u="none" dirty="0" err="1">
                <a:solidFill>
                  <a:schemeClr val="tx1"/>
                </a:solidFill>
              </a:rPr>
              <a:t>PyTorch</a:t>
            </a:r>
            <a:r>
              <a:rPr lang="en-IN" sz="2000" u="none" dirty="0">
                <a:solidFill>
                  <a:schemeClr val="tx1"/>
                </a:solidFill>
              </a:rPr>
              <a:t> (for machine learning or deep learning)</a:t>
            </a:r>
          </a:p>
        </p:txBody>
      </p:sp>
    </p:spTree>
    <p:extLst>
      <p:ext uri="{BB962C8B-B14F-4D97-AF65-F5344CB8AC3E}">
        <p14:creationId xmlns:p14="http://schemas.microsoft.com/office/powerpoint/2010/main" val="212566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97237"/>
            <a:ext cx="10515600" cy="861338"/>
          </a:xfrm>
          <a:prstGeom prst="rect">
            <a:avLst/>
          </a:prstGeom>
        </p:spPr>
        <p:txBody>
          <a:bodyPr vert="horz" wrap="square" lIns="0" tIns="182448" rIns="0" bIns="0" rtlCol="0">
            <a:spAutoFit/>
          </a:bodyPr>
          <a:lstStyle/>
          <a:p>
            <a:pPr marL="12700">
              <a:lnSpc>
                <a:spcPct val="100000"/>
              </a:lnSpc>
              <a:spcBef>
                <a:spcPts val="100"/>
              </a:spcBef>
            </a:pPr>
            <a:r>
              <a:rPr b="1" spc="-10" dirty="0">
                <a:latin typeface="Times New Roman" panose="02020603050405020304" pitchFamily="18" charset="0"/>
                <a:cs typeface="Times New Roman" panose="02020603050405020304" pitchFamily="18" charset="0"/>
              </a:rPr>
              <a:t>Conclusion</a:t>
            </a:r>
          </a:p>
        </p:txBody>
      </p:sp>
      <p:sp>
        <p:nvSpPr>
          <p:cNvPr id="3" name="object 3"/>
          <p:cNvSpPr txBox="1"/>
          <p:nvPr/>
        </p:nvSpPr>
        <p:spPr>
          <a:xfrm>
            <a:off x="609600" y="2158111"/>
            <a:ext cx="10819130" cy="4118372"/>
          </a:xfrm>
          <a:prstGeom prst="rect">
            <a:avLst/>
          </a:prstGeom>
        </p:spPr>
        <p:txBody>
          <a:bodyPr vert="horz" wrap="square" lIns="0" tIns="13335" rIns="0" bIns="0" rtlCol="0">
            <a:spAutoFit/>
          </a:bodyPr>
          <a:lstStyle/>
          <a:p>
            <a:pPr marL="12700" marR="5080" algn="just">
              <a:lnSpc>
                <a:spcPct val="150000"/>
              </a:lnSpc>
              <a:spcBef>
                <a:spcPts val="105"/>
              </a:spcBef>
            </a:pPr>
            <a:r>
              <a:rPr lang="en-US" dirty="0">
                <a:solidFill>
                  <a:srgbClr val="404040"/>
                </a:solidFill>
                <a:latin typeface="Times New Roman"/>
                <a:cs typeface="Times New Roman"/>
              </a:rPr>
              <a:t>This project successfully demonstrates an automated system for plant disease detection and disease severity estimation using image processing and machine learning techniques. By analyzing leaf images, the system accurately identifies plant diseases and calculates the percentage of infected area, enabling early diagnosis and precise assessment of disease impact. This reduces the dependency on manual inspection, which is time-consuming and prone to errors, and provides a faster and more reliable solution for farmers and agricultural experts. Moreover, the inclusion of disease prevention and control recommendations based on the detected disease and its severity enhances practical usability. By guiding farmers on appropriate treatment methods and optimized pesticide usage, the system helps reduce crop loss, lower costs, and promote sustainable farming practices. Overall, the proposed approach contributes to improved agricultural productivity and serves as a valuable step toward smart and technology-driven agriculture.</a:t>
            </a:r>
            <a:endParaRPr sz="16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96468"/>
            <a:ext cx="10515600" cy="862877"/>
          </a:xfrm>
          <a:prstGeom prst="rect">
            <a:avLst/>
          </a:prstGeom>
        </p:spPr>
        <p:txBody>
          <a:bodyPr vert="horz" wrap="square" lIns="0" tIns="183972" rIns="0" bIns="0" rtlCol="0">
            <a:spAutoFit/>
          </a:bodyPr>
          <a:lstStyle/>
          <a:p>
            <a:pPr marL="12700">
              <a:lnSpc>
                <a:spcPct val="100000"/>
              </a:lnSpc>
              <a:spcBef>
                <a:spcPts val="100"/>
              </a:spcBef>
            </a:pPr>
            <a:r>
              <a:rPr b="1" spc="-10" dirty="0">
                <a:latin typeface="Times New Roman" panose="02020603050405020304" pitchFamily="18" charset="0"/>
                <a:cs typeface="Times New Roman" panose="02020603050405020304" pitchFamily="18" charset="0"/>
              </a:rPr>
              <a:t>References</a:t>
            </a:r>
          </a:p>
        </p:txBody>
      </p:sp>
      <p:sp>
        <p:nvSpPr>
          <p:cNvPr id="3" name="object 3"/>
          <p:cNvSpPr txBox="1">
            <a:spLocks noGrp="1"/>
          </p:cNvSpPr>
          <p:nvPr>
            <p:ph idx="1"/>
          </p:nvPr>
        </p:nvSpPr>
        <p:spPr>
          <a:xfrm>
            <a:off x="1219200" y="2032228"/>
            <a:ext cx="9577070" cy="2884764"/>
          </a:xfrm>
          <a:prstGeom prst="rect">
            <a:avLst/>
          </a:prstGeom>
        </p:spPr>
        <p:txBody>
          <a:bodyPr vert="horz" wrap="square" lIns="0" tIns="139065" rIns="0" bIns="0" rtlCol="0">
            <a:spAutoFit/>
          </a:bodyPr>
          <a:lstStyle/>
          <a:p>
            <a:pPr marL="12700">
              <a:lnSpc>
                <a:spcPct val="100000"/>
              </a:lnSpc>
              <a:spcBef>
                <a:spcPts val="1095"/>
              </a:spcBef>
              <a:buClr>
                <a:srgbClr val="A42F0F"/>
              </a:buClr>
              <a:tabLst>
                <a:tab pos="354965" algn="l"/>
              </a:tabLst>
            </a:pPr>
            <a:r>
              <a:rPr lang="en-IN" sz="2000" u="none" spc="-10" dirty="0">
                <a:solidFill>
                  <a:srgbClr val="0000FF"/>
                </a:solidFill>
                <a:hlinkClick r:id="rId2">
                  <a:extLst>
                    <a:ext uri="{A12FA001-AC4F-418D-AE19-62706E023703}">
                      <ahyp:hlinkClr xmlns:ahyp="http://schemas.microsoft.com/office/drawing/2018/hyperlinkcolor" val="tx"/>
                    </a:ext>
                  </a:extLst>
                </a:hlinkClick>
              </a:rPr>
              <a:t>1. Burdon JJ, Zhan J. 2020. Climate change and disease in plant communities. </a:t>
            </a:r>
            <a:r>
              <a:rPr lang="en-IN" sz="2000" u="none" spc="-10" dirty="0" err="1">
                <a:solidFill>
                  <a:srgbClr val="0000FF"/>
                </a:solidFill>
                <a:hlinkClick r:id="rId2">
                  <a:extLst>
                    <a:ext uri="{A12FA001-AC4F-418D-AE19-62706E023703}">
                      <ahyp:hlinkClr xmlns:ahyp="http://schemas.microsoft.com/office/drawing/2018/hyperlinkcolor" val="tx"/>
                    </a:ext>
                  </a:extLst>
                </a:hlinkClick>
              </a:rPr>
              <a:t>PLoS</a:t>
            </a:r>
            <a:r>
              <a:rPr lang="en-IN" sz="2000" u="none" spc="-10" dirty="0">
                <a:solidFill>
                  <a:srgbClr val="0000FF"/>
                </a:solidFill>
                <a:hlinkClick r:id="rId2">
                  <a:extLst>
                    <a:ext uri="{A12FA001-AC4F-418D-AE19-62706E023703}">
                      <ahyp:hlinkClr xmlns:ahyp="http://schemas.microsoft.com/office/drawing/2018/hyperlinkcolor" val="tx"/>
                    </a:ext>
                  </a:extLst>
                </a:hlinkClick>
              </a:rPr>
              <a:t> </a:t>
            </a:r>
            <a:r>
              <a:rPr lang="en-IN" sz="2000" u="none" spc="-10" dirty="0" err="1">
                <a:solidFill>
                  <a:srgbClr val="0000FF"/>
                </a:solidFill>
                <a:hlinkClick r:id="rId2">
                  <a:extLst>
                    <a:ext uri="{A12FA001-AC4F-418D-AE19-62706E023703}">
                      <ahyp:hlinkClr xmlns:ahyp="http://schemas.microsoft.com/office/drawing/2018/hyperlinkcolor" val="tx"/>
                    </a:ext>
                  </a:extLst>
                </a:hlinkClick>
              </a:rPr>
              <a:t>Biol</a:t>
            </a:r>
            <a:r>
              <a:rPr lang="en-IN" sz="2000" u="none" spc="-10" dirty="0">
                <a:solidFill>
                  <a:srgbClr val="0000FF"/>
                </a:solidFill>
                <a:hlinkClick r:id="rId2">
                  <a:extLst>
                    <a:ext uri="{A12FA001-AC4F-418D-AE19-62706E023703}">
                      <ahyp:hlinkClr xmlns:ahyp="http://schemas.microsoft.com/office/drawing/2018/hyperlinkcolor" val="tx"/>
                    </a:ext>
                  </a:extLst>
                </a:hlinkClick>
              </a:rPr>
              <a:t> 18:e3000949.</a:t>
            </a:r>
          </a:p>
          <a:p>
            <a:pPr marL="12700">
              <a:lnSpc>
                <a:spcPct val="100000"/>
              </a:lnSpc>
              <a:spcBef>
                <a:spcPts val="1095"/>
              </a:spcBef>
              <a:buClr>
                <a:srgbClr val="A42F0F"/>
              </a:buClr>
              <a:tabLst>
                <a:tab pos="354965" algn="l"/>
              </a:tabLst>
            </a:pPr>
            <a:r>
              <a:rPr lang="en-IN" sz="2000" u="none" spc="-10" dirty="0">
                <a:solidFill>
                  <a:srgbClr val="0000FF"/>
                </a:solidFill>
                <a:hlinkClick r:id="rId2">
                  <a:extLst>
                    <a:ext uri="{A12FA001-AC4F-418D-AE19-62706E023703}">
                      <ahyp:hlinkClr xmlns:ahyp="http://schemas.microsoft.com/office/drawing/2018/hyperlinkcolor" val="tx"/>
                    </a:ext>
                  </a:extLst>
                </a:hlinkClick>
              </a:rPr>
              <a:t>2. </a:t>
            </a:r>
            <a:r>
              <a:rPr lang="en-IN" sz="2000" u="none" spc="-10" dirty="0" err="1">
                <a:solidFill>
                  <a:srgbClr val="0000FF"/>
                </a:solidFill>
                <a:hlinkClick r:id="rId2">
                  <a:extLst>
                    <a:ext uri="{A12FA001-AC4F-418D-AE19-62706E023703}">
                      <ahyp:hlinkClr xmlns:ahyp="http://schemas.microsoft.com/office/drawing/2018/hyperlinkcolor" val="tx"/>
                    </a:ext>
                  </a:extLst>
                </a:hlinkClick>
              </a:rPr>
              <a:t>Ashourloo</a:t>
            </a:r>
            <a:r>
              <a:rPr lang="en-IN" sz="2000" u="none" spc="-10" dirty="0">
                <a:solidFill>
                  <a:srgbClr val="0000FF"/>
                </a:solidFill>
                <a:hlinkClick r:id="rId2">
                  <a:extLst>
                    <a:ext uri="{A12FA001-AC4F-418D-AE19-62706E023703}">
                      <ahyp:hlinkClr xmlns:ahyp="http://schemas.microsoft.com/office/drawing/2018/hyperlinkcolor" val="tx"/>
                    </a:ext>
                  </a:extLst>
                </a:hlinkClick>
              </a:rPr>
              <a:t> D, </a:t>
            </a:r>
            <a:r>
              <a:rPr lang="en-IN" sz="2000" u="none" spc="-10" dirty="0" err="1">
                <a:solidFill>
                  <a:srgbClr val="0000FF"/>
                </a:solidFill>
                <a:hlinkClick r:id="rId2">
                  <a:extLst>
                    <a:ext uri="{A12FA001-AC4F-418D-AE19-62706E023703}">
                      <ahyp:hlinkClr xmlns:ahyp="http://schemas.microsoft.com/office/drawing/2018/hyperlinkcolor" val="tx"/>
                    </a:ext>
                  </a:extLst>
                </a:hlinkClick>
              </a:rPr>
              <a:t>Matkan</a:t>
            </a:r>
            <a:r>
              <a:rPr lang="en-IN" sz="2000" u="none" spc="-10" dirty="0">
                <a:solidFill>
                  <a:srgbClr val="0000FF"/>
                </a:solidFill>
                <a:hlinkClick r:id="rId2">
                  <a:extLst>
                    <a:ext uri="{A12FA001-AC4F-418D-AE19-62706E023703}">
                      <ahyp:hlinkClr xmlns:ahyp="http://schemas.microsoft.com/office/drawing/2018/hyperlinkcolor" val="tx"/>
                    </a:ext>
                  </a:extLst>
                </a:hlinkClick>
              </a:rPr>
              <a:t> AA, Huete A, et al. Developing an index for detection and identification of disease Stages. IEEE </a:t>
            </a:r>
            <a:r>
              <a:rPr lang="en-IN" sz="2000" u="none" spc="-10" dirty="0" err="1">
                <a:solidFill>
                  <a:srgbClr val="0000FF"/>
                </a:solidFill>
                <a:hlinkClick r:id="rId2">
                  <a:extLst>
                    <a:ext uri="{A12FA001-AC4F-418D-AE19-62706E023703}">
                      <ahyp:hlinkClr xmlns:ahyp="http://schemas.microsoft.com/office/drawing/2018/hyperlinkcolor" val="tx"/>
                    </a:ext>
                  </a:extLst>
                </a:hlinkClick>
              </a:rPr>
              <a:t>Geosci</a:t>
            </a:r>
            <a:r>
              <a:rPr lang="en-IN" sz="2000" u="none" spc="-10" dirty="0">
                <a:solidFill>
                  <a:srgbClr val="0000FF"/>
                </a:solidFill>
                <a:hlinkClick r:id="rId2">
                  <a:extLst>
                    <a:ext uri="{A12FA001-AC4F-418D-AE19-62706E023703}">
                      <ahyp:hlinkClr xmlns:ahyp="http://schemas.microsoft.com/office/drawing/2018/hyperlinkcolor" val="tx"/>
                    </a:ext>
                  </a:extLst>
                </a:hlinkClick>
              </a:rPr>
              <a:t> Remote Sens Lett. 2016 June;13(6):851–855. </a:t>
            </a:r>
            <a:r>
              <a:rPr lang="en-IN" sz="2000" u="none" spc="-10" dirty="0" err="1">
                <a:solidFill>
                  <a:srgbClr val="0000FF"/>
                </a:solidFill>
                <a:hlinkClick r:id="rId2">
                  <a:extLst>
                    <a:ext uri="{A12FA001-AC4F-418D-AE19-62706E023703}">
                      <ahyp:hlinkClr xmlns:ahyp="http://schemas.microsoft.com/office/drawing/2018/hyperlinkcolor" val="tx"/>
                    </a:ext>
                  </a:extLst>
                </a:hlinkClick>
              </a:rPr>
              <a:t>doi</a:t>
            </a:r>
            <a:r>
              <a:rPr lang="en-IN" sz="2000" u="none" spc="-10" dirty="0">
                <a:solidFill>
                  <a:srgbClr val="0000FF"/>
                </a:solidFill>
                <a:hlinkClick r:id="rId2">
                  <a:extLst>
                    <a:ext uri="{A12FA001-AC4F-418D-AE19-62706E023703}">
                      <ahyp:hlinkClr xmlns:ahyp="http://schemas.microsoft.com/office/drawing/2018/hyperlinkcolor" val="tx"/>
                    </a:ext>
                  </a:extLst>
                </a:hlinkClick>
              </a:rPr>
              <a:t>: 10.1109/LGRS.2016.2550529</a:t>
            </a:r>
          </a:p>
          <a:p>
            <a:pPr marL="12700">
              <a:lnSpc>
                <a:spcPct val="100000"/>
              </a:lnSpc>
              <a:spcBef>
                <a:spcPts val="1095"/>
              </a:spcBef>
              <a:buClr>
                <a:srgbClr val="A42F0F"/>
              </a:buClr>
              <a:tabLst>
                <a:tab pos="354965" algn="l"/>
              </a:tabLst>
            </a:pPr>
            <a:r>
              <a:rPr lang="en-IN" sz="2000" spc="-10" dirty="0">
                <a:solidFill>
                  <a:srgbClr val="0000FF"/>
                </a:solidFill>
                <a:hlinkClick r:id="rId2">
                  <a:extLst>
                    <a:ext uri="{A12FA001-AC4F-418D-AE19-62706E023703}">
                      <ahyp:hlinkClr xmlns:ahyp="http://schemas.microsoft.com/office/drawing/2018/hyperlinkcolor" val="tx"/>
                    </a:ext>
                  </a:extLst>
                </a:hlinkClick>
              </a:rPr>
              <a:t>3. </a:t>
            </a:r>
            <a:r>
              <a:rPr lang="en-IN" sz="2000" u="none" spc="-10" dirty="0">
                <a:solidFill>
                  <a:srgbClr val="0000FF"/>
                </a:solidFill>
                <a:hlinkClick r:id="rId2">
                  <a:extLst>
                    <a:ext uri="{A12FA001-AC4F-418D-AE19-62706E023703}">
                      <ahyp:hlinkClr xmlns:ahyp="http://schemas.microsoft.com/office/drawing/2018/hyperlinkcolor" val="tx"/>
                    </a:ext>
                  </a:extLst>
                </a:hlinkClick>
              </a:rPr>
              <a:t>Kumar M, Kumar A, </a:t>
            </a:r>
            <a:r>
              <a:rPr lang="en-IN" sz="2000" u="none" spc="-10" dirty="0" err="1">
                <a:solidFill>
                  <a:srgbClr val="0000FF"/>
                </a:solidFill>
                <a:hlinkClick r:id="rId2">
                  <a:extLst>
                    <a:ext uri="{A12FA001-AC4F-418D-AE19-62706E023703}">
                      <ahyp:hlinkClr xmlns:ahyp="http://schemas.microsoft.com/office/drawing/2018/hyperlinkcolor" val="tx"/>
                    </a:ext>
                  </a:extLst>
                </a:hlinkClick>
              </a:rPr>
              <a:t>Palaparthy</a:t>
            </a:r>
            <a:r>
              <a:rPr lang="en-IN" sz="2000" u="none" spc="-10" dirty="0">
                <a:solidFill>
                  <a:srgbClr val="0000FF"/>
                </a:solidFill>
                <a:hlinkClick r:id="rId2">
                  <a:extLst>
                    <a:ext uri="{A12FA001-AC4F-418D-AE19-62706E023703}">
                      <ahyp:hlinkClr xmlns:ahyp="http://schemas.microsoft.com/office/drawing/2018/hyperlinkcolor" val="tx"/>
                    </a:ext>
                  </a:extLst>
                </a:hlinkClick>
              </a:rPr>
              <a:t> VS. Soil Sensors-based prediction System for plant diseases using Exploratory data analysis and machine learning. IEEE Sensors J. 2021 Aug 15;21(16):17455–17468.</a:t>
            </a:r>
            <a:endParaRPr sz="2000" u="none" spc="-10" dirty="0">
              <a:solidFill>
                <a:schemeClr val="tx1"/>
              </a:solidFill>
              <a:hlinkClick r:id="rId2">
                <a:extLst>
                  <a:ext uri="{A12FA001-AC4F-418D-AE19-62706E023703}">
                    <ahyp:hlinkClr xmlns:ahyp="http://schemas.microsoft.com/office/drawing/2018/hyperlinkcolor" val="tx"/>
                  </a:ext>
                </a:extLst>
              </a:hlinkClic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71952" y="657224"/>
            <a:ext cx="29209" cy="40640"/>
          </a:xfrm>
          <a:prstGeom prst="rect">
            <a:avLst/>
          </a:prstGeom>
        </p:spPr>
        <p:txBody>
          <a:bodyPr vert="horz" wrap="square" lIns="0" tIns="12065" rIns="0" bIns="0" rtlCol="0">
            <a:spAutoFit/>
          </a:bodyPr>
          <a:lstStyle/>
          <a:p>
            <a:pPr algn="ctr">
              <a:lnSpc>
                <a:spcPct val="100000"/>
              </a:lnSpc>
              <a:spcBef>
                <a:spcPts val="95"/>
              </a:spcBef>
            </a:pPr>
            <a:r>
              <a:rPr sz="100" spc="-25" dirty="0">
                <a:solidFill>
                  <a:srgbClr val="252525"/>
                </a:solidFill>
                <a:latin typeface="Arial MT"/>
                <a:cs typeface="Arial MT"/>
              </a:rPr>
              <a:t>.</a:t>
            </a:r>
            <a:endParaRPr sz="100">
              <a:latin typeface="Arial MT"/>
              <a:cs typeface="Arial MT"/>
            </a:endParaRPr>
          </a:p>
        </p:txBody>
      </p:sp>
      <p:sp>
        <p:nvSpPr>
          <p:cNvPr id="3" name="object 3"/>
          <p:cNvSpPr txBox="1">
            <a:spLocks noGrp="1"/>
          </p:cNvSpPr>
          <p:nvPr>
            <p:ph type="title"/>
          </p:nvPr>
        </p:nvSpPr>
        <p:spPr>
          <a:xfrm>
            <a:off x="4315142" y="2362200"/>
            <a:ext cx="3561715" cy="939800"/>
          </a:xfrm>
          <a:prstGeom prst="rect">
            <a:avLst/>
          </a:prstGeom>
        </p:spPr>
        <p:txBody>
          <a:bodyPr vert="horz" wrap="square" lIns="0" tIns="12700" rIns="0" bIns="0" rtlCol="0">
            <a:spAutoFit/>
          </a:bodyPr>
          <a:lstStyle/>
          <a:p>
            <a:pPr marL="12700">
              <a:lnSpc>
                <a:spcPct val="100000"/>
              </a:lnSpc>
              <a:spcBef>
                <a:spcPts val="100"/>
              </a:spcBef>
            </a:pPr>
            <a:r>
              <a:rPr sz="6000" dirty="0">
                <a:solidFill>
                  <a:srgbClr val="404040"/>
                </a:solidFill>
              </a:rPr>
              <a:t>Thank</a:t>
            </a:r>
            <a:r>
              <a:rPr sz="6000" spc="-25" dirty="0">
                <a:solidFill>
                  <a:srgbClr val="404040"/>
                </a:solidFill>
              </a:rPr>
              <a:t> you</a:t>
            </a:r>
            <a:endParaRPr sz="60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98</TotalTime>
  <Words>929</Words>
  <Application>Microsoft Office PowerPoint</Application>
  <PresentationFormat>Widescreen</PresentationFormat>
  <Paragraphs>48</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MT</vt:lpstr>
      <vt:lpstr>Calibri</vt:lpstr>
      <vt:lpstr>Calibri Light</vt:lpstr>
      <vt:lpstr>Times New Roman</vt:lpstr>
      <vt:lpstr>Office Theme</vt:lpstr>
      <vt:lpstr>Department of Computer Science &amp; Engineering</vt:lpstr>
      <vt:lpstr>Table of Contents</vt:lpstr>
      <vt:lpstr>Introduction</vt:lpstr>
      <vt:lpstr>Abstract</vt:lpstr>
      <vt:lpstr>Problem Statement</vt:lpstr>
      <vt:lpstr>Proposed Methodology</vt:lpstr>
      <vt:lpstr>Hardware/Software Requirements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Abhinaya Sunkari</dc:creator>
  <cp:lastModifiedBy>shravanbhavandla09@outlook.com</cp:lastModifiedBy>
  <cp:revision>5</cp:revision>
  <dcterms:created xsi:type="dcterms:W3CDTF">2025-12-29T06:31:57Z</dcterms:created>
  <dcterms:modified xsi:type="dcterms:W3CDTF">2026-02-23T07:03:51Z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2025-12-29T00:00:00Z</vt:filetime>
  </property>
  <property fmtid="{D5CDD505-2E9C-101B-9397-08002B2CF9AE}" pid="3" name="Creator">
    <vt:lpwstr>Microsoft® PowerPoint® 2021</vt:lpwstr>
  </property>
  <property fmtid="{D5CDD505-2E9C-101B-9397-08002B2CF9AE}" pid="4" name="LastSaved">
    <vt:filetime>2025-12-29T00:00:00Z</vt:filetime>
  </property>
  <property fmtid="{D5CDD505-2E9C-101B-9397-08002B2CF9AE}" pid="5" name="Producer">
    <vt:lpwstr>Microsoft® PowerPoint® 2021</vt:lpwstr>
  </property>
</Properties>
</file>